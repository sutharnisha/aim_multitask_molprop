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spc="60">
                <a:solidFill>
                  <a:srgbClr val="8A90A0"/>
                </a:solidFill>
                <a:latin typeface="Consolas"/>
              </a:rPr>
              <a:t>INDEPENDENT RESEARCH EXTENSION · QM9 MULTI-TASK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5400" b="1" i="0">
                <a:solidFill>
                  <a:srgbClr val="1C2230"/>
                </a:solidFill>
                <a:latin typeface="Georgia"/>
              </a:rPr>
              <a:t>AIM, tested on </a:t>
            </a:r>
            <a:r>
              <a:rPr sz="5400" b="1" i="1">
                <a:solidFill>
                  <a:srgbClr val="1F7A72"/>
                </a:solidFill>
                <a:latin typeface="Georgia"/>
              </a:rPr>
              <a:t>two</a:t>
            </a:r>
          </a:p>
          <a:p>
            <a:r>
              <a:rPr sz="5400" b="1" i="0">
                <a:solidFill>
                  <a:srgbClr val="1C2230"/>
                </a:solidFill>
                <a:latin typeface="Georgia"/>
              </a:rPr>
              <a:t>encoders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8778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700" b="0" i="0">
                <a:solidFill>
                  <a:srgbClr val="4C5468"/>
                </a:solidFill>
                <a:latin typeface="Calibri"/>
              </a:rPr>
              <a:t>Does a learned gradient-conflict policy generalize across model architectures — or only work on the one it was benchmarked on? A from-scratch MPNN and a pretrained Uni-Mol transformer, run through the identical training protocol, answer that question.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8A90A0"/>
                </a:solidFill>
                <a:latin typeface="Consolas"/>
              </a:rPr>
              <a:t>Author   </a:t>
            </a:r>
            <a:r>
              <a:rPr sz="1200" b="1" i="0">
                <a:solidFill>
                  <a:srgbClr val="1C2230"/>
                </a:solidFill>
                <a:latin typeface="Consolas"/>
              </a:rPr>
              <a:t>Nisha Suthar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8A90A0"/>
                </a:solidFill>
                <a:latin typeface="Consolas"/>
              </a:rPr>
              <a:t>Base method   </a:t>
            </a:r>
            <a:r>
              <a:rPr sz="1200" b="1" i="0">
                <a:solidFill>
                  <a:srgbClr val="1C2230"/>
                </a:solidFill>
                <a:latin typeface="Consolas"/>
              </a:rPr>
              <a:t>Minot &amp; Schneider, NeurIPS AI4Science 2025 · arXiv:2509.25955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8A90A0"/>
                </a:solidFill>
                <a:latin typeface="Consolas"/>
              </a:rPr>
              <a:t>Dataset   </a:t>
            </a:r>
            <a:r>
              <a:rPr sz="1200" b="1" i="0">
                <a:solidFill>
                  <a:srgbClr val="1C2230"/>
                </a:solidFill>
                <a:latin typeface="Consolas"/>
              </a:rPr>
              <a:t>QM9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01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200" b="1" i="0">
                <a:solidFill>
                  <a:srgbClr val="1C2230"/>
                </a:solidFill>
                <a:latin typeface="Georgia"/>
              </a:rPr>
              <a:t>One encoder, several targets, competing 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Predicting several molecular properties from one shared encoder is efficient — but the tasks don't always agree. When two tasks' gradients point in conflicting directions, updating for one can quietly undo progress on the other.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" y="30358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C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900" b="1" i="0">
                <a:solidFill>
                  <a:srgbClr val="8A90A0"/>
                </a:solidFill>
                <a:latin typeface="Consola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19856"/>
            <a:ext cx="3026664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Linear scalarization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Just sum the per-task losses. Cheap, but conflicting gradients are never resolved — one task can dominate.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8346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98848" y="30358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C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900" b="1" i="0">
                <a:solidFill>
                  <a:srgbClr val="8A90A0"/>
                </a:solidFill>
                <a:latin typeface="Consolas"/>
              </a:rPr>
              <a:t>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3419856"/>
            <a:ext cx="3026664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PCGrad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A fixed geometric rule: if two gradients conflict, project one onto the other's normal plane. Static — the same rule at epoch 1 and epoch 300.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834640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56448" y="3035808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7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900" b="1" i="0">
                <a:solidFill>
                  <a:srgbClr val="C1592F"/>
                </a:solidFill>
                <a:latin typeface="Consolas"/>
              </a:rPr>
              <a:t>THIS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3419856"/>
            <a:ext cx="3026664" cy="1956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AIM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Learns how much conflicting gradient to project out, per task pair, via a trained policy — instead of a hand-set rule.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02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 dirty="0">
                <a:solidFill>
                  <a:srgbClr val="1C2230"/>
                </a:solidFill>
                <a:latin typeface="Georgia"/>
              </a:rPr>
              <a:t>AIM learns a per-task-pair threshold, jointly with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 dirty="0">
                <a:solidFill>
                  <a:srgbClr val="4C5468"/>
                </a:solidFill>
                <a:latin typeface="Calibri"/>
              </a:rPr>
              <a:t>For every ordered task pair (</a:t>
            </a:r>
            <a:r>
              <a:rPr sz="1500" b="0" i="0" dirty="0" err="1">
                <a:solidFill>
                  <a:srgbClr val="4C5468"/>
                </a:solidFill>
                <a:latin typeface="Calibri"/>
              </a:rPr>
              <a:t>i</a:t>
            </a:r>
            <a:r>
              <a:rPr sz="1500" b="0" i="0" dirty="0">
                <a:solidFill>
                  <a:srgbClr val="4C5468"/>
                </a:solidFill>
                <a:latin typeface="Calibri"/>
              </a:rPr>
              <a:t>, j), a policy learns a threshold τ deciding how much of task j's conflicting gradient component gets suppressed from task i's update — trained end-to-end alongside the encoder.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3392424"/>
            <a:ext cx="2039112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dirty="0">
                <a:solidFill>
                  <a:srgbClr val="1F7A72"/>
                </a:solidFill>
                <a:latin typeface="Consolas"/>
              </a:rPr>
              <a:t>01</a:t>
            </a:r>
          </a:p>
          <a:p>
            <a:pPr>
              <a:spcBef>
                <a:spcPts val="400"/>
              </a:spcBef>
            </a:pPr>
            <a:r>
              <a:rPr sz="1300" b="1" i="0" dirty="0">
                <a:solidFill>
                  <a:srgbClr val="1C2230"/>
                </a:solidFill>
                <a:latin typeface="Calibri"/>
              </a:rPr>
              <a:t>Shared forward pass</a:t>
            </a:r>
          </a:p>
          <a:p>
            <a:pPr>
              <a:spcBef>
                <a:spcPts val="300"/>
              </a:spcBef>
            </a:pPr>
            <a:r>
              <a:rPr sz="1100" b="0" i="0" dirty="0">
                <a:solidFill>
                  <a:srgbClr val="4C5468"/>
                </a:solidFill>
                <a:latin typeface="Calibri"/>
              </a:rPr>
              <a:t>One encoder, per-task gradients pulled via </a:t>
            </a:r>
            <a:r>
              <a:rPr sz="1100" b="0" i="0" dirty="0" err="1">
                <a:solidFill>
                  <a:srgbClr val="4C5468"/>
                </a:solidFill>
                <a:latin typeface="Calibri"/>
              </a:rPr>
              <a:t>torch.autograd.grad</a:t>
            </a:r>
            <a:r>
              <a:rPr sz="1100" b="0" i="0" dirty="0">
                <a:solidFill>
                  <a:srgbClr val="4C5468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3246120"/>
            <a:ext cx="411480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8A90A0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24612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9584" y="3392424"/>
            <a:ext cx="2039112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dirty="0">
                <a:solidFill>
                  <a:srgbClr val="1F7A72"/>
                </a:solidFill>
                <a:latin typeface="Consolas"/>
              </a:rPr>
              <a:t>02</a:t>
            </a:r>
          </a:p>
          <a:p>
            <a:pPr>
              <a:spcBef>
                <a:spcPts val="400"/>
              </a:spcBef>
            </a:pPr>
            <a:r>
              <a:rPr sz="1300" b="1" i="0" dirty="0">
                <a:solidFill>
                  <a:srgbClr val="1C2230"/>
                </a:solidFill>
                <a:latin typeface="Calibri"/>
              </a:rPr>
              <a:t>Policy scores conflict</a:t>
            </a:r>
          </a:p>
          <a:p>
            <a:pPr>
              <a:spcBef>
                <a:spcPts val="300"/>
              </a:spcBef>
            </a:pPr>
            <a:r>
              <a:rPr sz="1100" b="0" i="0" dirty="0">
                <a:solidFill>
                  <a:srgbClr val="4C5468"/>
                </a:solidFill>
                <a:latin typeface="Calibri"/>
              </a:rPr>
              <a:t>Per task-pair threshold τ, sigmoid-gated at temperature k, decides suppression strength.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246120"/>
            <a:ext cx="411480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8A90A0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24612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72784" y="3392424"/>
            <a:ext cx="2039112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dirty="0">
                <a:solidFill>
                  <a:srgbClr val="1F7A72"/>
                </a:solidFill>
                <a:latin typeface="Consolas"/>
              </a:rPr>
              <a:t>03</a:t>
            </a:r>
          </a:p>
          <a:p>
            <a:pPr>
              <a:spcBef>
                <a:spcPts val="400"/>
              </a:spcBef>
            </a:pPr>
            <a:r>
              <a:rPr sz="1300" b="1" i="0" dirty="0">
                <a:solidFill>
                  <a:srgbClr val="1C2230"/>
                </a:solidFill>
                <a:latin typeface="Calibri"/>
              </a:rPr>
              <a:t>Guidance + </a:t>
            </a:r>
            <a:r>
              <a:rPr sz="1300" b="1" i="0" dirty="0" err="1">
                <a:solidFill>
                  <a:srgbClr val="1C2230"/>
                </a:solidFill>
                <a:latin typeface="Calibri"/>
              </a:rPr>
              <a:t>regularizers</a:t>
            </a:r>
            <a:endParaRPr sz="1300" b="1" i="0" dirty="0">
              <a:solidFill>
                <a:srgbClr val="1C2230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100" b="0" i="0" dirty="0">
                <a:solidFill>
                  <a:srgbClr val="4C5468"/>
                </a:solidFill>
                <a:latin typeface="Calibri"/>
              </a:rPr>
              <a:t>Guidance loss (</a:t>
            </a:r>
            <a:r>
              <a:rPr sz="1100" b="0" i="0" dirty="0" err="1">
                <a:solidFill>
                  <a:srgbClr val="4C5468"/>
                </a:solidFill>
                <a:latin typeface="Calibri"/>
              </a:rPr>
              <a:t>λ_g</a:t>
            </a:r>
            <a:r>
              <a:rPr sz="1100" b="0" i="0" dirty="0">
                <a:solidFill>
                  <a:srgbClr val="4C5468"/>
                </a:solidFill>
                <a:latin typeface="Calibri"/>
              </a:rPr>
              <a:t>) plus magnitude-preservation (</a:t>
            </a:r>
            <a:r>
              <a:rPr sz="1100" b="0" i="0" dirty="0" err="1">
                <a:solidFill>
                  <a:srgbClr val="4C5468"/>
                </a:solidFill>
                <a:latin typeface="Calibri"/>
              </a:rPr>
              <a:t>λ_m</a:t>
            </a:r>
            <a:r>
              <a:rPr sz="1100" b="0" i="0" dirty="0">
                <a:solidFill>
                  <a:srgbClr val="4C5468"/>
                </a:solidFill>
                <a:latin typeface="Calibri"/>
              </a:rPr>
              <a:t>) and progress-on-hard-tasks (</a:t>
            </a:r>
            <a:r>
              <a:rPr sz="1100" b="0" i="0" dirty="0" err="1">
                <a:solidFill>
                  <a:srgbClr val="4C5468"/>
                </a:solidFill>
                <a:latin typeface="Calibri"/>
              </a:rPr>
              <a:t>λ_p</a:t>
            </a:r>
            <a:r>
              <a:rPr sz="1100" b="0" i="0" dirty="0">
                <a:solidFill>
                  <a:srgbClr val="4C5468"/>
                </a:solidFill>
                <a:latin typeface="Calibri"/>
              </a:rPr>
              <a:t>)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246120"/>
            <a:ext cx="411480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8A90A0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3246120"/>
            <a:ext cx="23317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15984" y="3392424"/>
            <a:ext cx="2039112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 dirty="0">
                <a:solidFill>
                  <a:srgbClr val="1F7A72"/>
                </a:solidFill>
                <a:latin typeface="Consolas"/>
              </a:rPr>
              <a:t>04</a:t>
            </a:r>
          </a:p>
          <a:p>
            <a:pPr>
              <a:spcBef>
                <a:spcPts val="400"/>
              </a:spcBef>
            </a:pPr>
            <a:r>
              <a:rPr sz="1300" b="1" i="0" dirty="0">
                <a:solidFill>
                  <a:srgbClr val="1C2230"/>
                </a:solidFill>
                <a:latin typeface="Calibri"/>
              </a:rPr>
              <a:t>Intervened update</a:t>
            </a:r>
          </a:p>
          <a:p>
            <a:pPr>
              <a:spcBef>
                <a:spcPts val="300"/>
              </a:spcBef>
            </a:pPr>
            <a:r>
              <a:rPr sz="1100" b="0" i="0" dirty="0">
                <a:solidFill>
                  <a:srgbClr val="4C5468"/>
                </a:solidFill>
                <a:latin typeface="Calibri"/>
              </a:rPr>
              <a:t>Combined, conflict-adjusted gradient applied to the shared encoder.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 dirty="0">
                <a:solidFill>
                  <a:srgbClr val="8A90A0"/>
                </a:solidFill>
                <a:latin typeface="Calibri"/>
              </a:rPr>
              <a:t>Two policy variants are compared throughout: AIM Scalar (one τ per task pair) and AIM Matrix (τ allowed to differ by direction, </a:t>
            </a:r>
            <a:r>
              <a:rPr sz="1100" b="0" i="1" dirty="0" err="1">
                <a:solidFill>
                  <a:srgbClr val="8A90A0"/>
                </a:solidFill>
                <a:latin typeface="Calibri"/>
              </a:rPr>
              <a:t>i→j</a:t>
            </a:r>
            <a:r>
              <a:rPr sz="1100" b="0" i="1" dirty="0">
                <a:solidFill>
                  <a:srgbClr val="8A90A0"/>
                </a:solidFill>
                <a:latin typeface="Calibri"/>
              </a:rPr>
              <a:t> vs </a:t>
            </a:r>
            <a:r>
              <a:rPr sz="1100" b="0" i="1" dirty="0" err="1">
                <a:solidFill>
                  <a:srgbClr val="8A90A0"/>
                </a:solidFill>
                <a:latin typeface="Calibri"/>
              </a:rPr>
              <a:t>j→i</a:t>
            </a:r>
            <a:r>
              <a:rPr sz="1100" b="0" i="1" dirty="0">
                <a:solidFill>
                  <a:srgbClr val="8A90A0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03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THIS PROJECT'S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C2230"/>
                </a:solidFill>
                <a:latin typeface="Georgia"/>
              </a:rPr>
              <a:t>The paper benchmarks one backbone. This repo tests a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The original paper only evaluates AIM on its own GNN. The paper's own future-work section asks whether the policy generalizes “across diverse model architectures beyond the GNN used here” — that's the gap this repository fills.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3035808"/>
            <a:ext cx="471830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GNN — trained from scratch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An MPNN (Gilmer et al., 2017). Full encoder trained on QM9 from random initialization.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83464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3035808"/>
            <a:ext cx="4718304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Uni-Mol — pretrained, fine-tuned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An SE(3)-Transformer pretrained on ~19M molecules, fine-tuned here with the last 2 layers trainable.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54864" cy="1417320"/>
          </a:xfrm>
          <a:prstGeom prst="rect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4944" y="4434840"/>
            <a:ext cx="10415016" cy="1417320"/>
          </a:xfrm>
          <a:prstGeom prst="rect">
            <a:avLst/>
          </a:prstGeom>
          <a:solidFill>
            <a:srgbClr val="F7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9966960" cy="1197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C1592F"/>
                </a:solidFill>
                <a:latin typeface="Calibri"/>
              </a:rPr>
              <a:t>Fairness constraint — </a:t>
            </a:r>
            <a:r>
              <a:rPr sz="1350" b="0" i="0">
                <a:solidFill>
                  <a:srgbClr val="1C2230"/>
                </a:solidFill>
                <a:latin typeface="Calibri"/>
              </a:rPr>
              <a:t>every hyperparameter not intrinsically tied to a specific encoder (epochs, batch size, both learning rates, policy temperature, all three loss weights, task-head width) is kept identical between the two pipelines. Only the encoder differs. aim_optimizer.py, baselines.py, and metrics.py are byte-identical across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04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C2230"/>
                </a:solidFill>
                <a:latin typeface="Georgia"/>
              </a:rPr>
              <a:t>Choosing tasks that actually conflict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AIM only has something to do if the tasks disagree. Two of QM9's most commonly paired targets turned out not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3035808"/>
            <a:ext cx="4718304" cy="1792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Uni-Mol pilot — μ, U₀, U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U₀ and U (internal energy at 0K vs 298K) correlate at r = 1.00 in raw QM9 labels — they differ only by a small thermal correction. Almost no real gradient conflict for AIM to resolve on that pair.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834640"/>
            <a:ext cx="51206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3035808"/>
            <a:ext cx="4718304" cy="1792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GNN pilot — μ, ε_LUMO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Dipole moment and LUMO energy correlate at r = −0.39 — the strongest conflict among physically distinct QM9 properties. Chosen specifically to stress-test gradient-conflict resolution before scaling to the paper's full 11-task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8A90A0"/>
                </a:solidFill>
                <a:latin typeface="Calibri"/>
              </a:rPr>
              <a:t>Result: on the near-duplicate U₀/U pair, plain scalarization wins almost by construction — not a fair test of conflict resolution. The 2-task pilot exists to correct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05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EXPERIMENT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C2230"/>
                </a:solidFill>
                <a:latin typeface="Georgia"/>
              </a:rPr>
              <a:t>The method × scale × seed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Five methods, three training-set sizes, three seeds, both backbones — run under one shared training and evaluation protocol.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Methods compared</a:t>
            </a:r>
          </a:p>
          <a:p>
            <a:pPr>
              <a:spcBef>
                <a:spcPts val="1000"/>
              </a:spcBef>
            </a:pPr>
            <a:endParaRPr sz="1500" b="1" i="0">
              <a:solidFill>
                <a:srgbClr val="1C2230"/>
              </a:solidFill>
              <a:latin typeface="Calibri"/>
            </a:endParaRPr>
          </a:p>
          <a:p>
            <a:endParaRPr sz="1500" b="1" i="0">
              <a:solidFill>
                <a:srgbClr val="1C223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1" i="0">
                <a:solidFill>
                  <a:srgbClr val="1C2230"/>
                </a:solidFill>
                <a:latin typeface="Calibri"/>
              </a:rPr>
              <a:t>STL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 — one head trained alone, per task (upper-bound reference)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1" i="0">
                <a:solidFill>
                  <a:srgbClr val="1C2230"/>
                </a:solidFill>
                <a:latin typeface="Calibri"/>
              </a:rPr>
              <a:t>LS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 — linear scalarization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1" i="0">
                <a:solidFill>
                  <a:srgbClr val="1C2230"/>
                </a:solidFill>
                <a:latin typeface="Calibri"/>
              </a:rPr>
              <a:t>PCGrad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 — fixed gradient-surgery rule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1" i="0">
                <a:solidFill>
                  <a:srgbClr val="1C2230"/>
                </a:solidFill>
                <a:latin typeface="Calibri"/>
              </a:rPr>
              <a:t>AIM Scalar / AIM Matrix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 — learned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83464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3017520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Sweep coverage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8A90A0"/>
                </a:solidFill>
                <a:latin typeface="Consolas"/>
              </a:rPr>
              <a:t>seeds   </a:t>
            </a:r>
            <a:r>
              <a:rPr sz="1250" b="0" i="0">
                <a:solidFill>
                  <a:srgbClr val="1C2230"/>
                </a:solidFill>
                <a:latin typeface="Calibri"/>
              </a:rPr>
              <a:t>42, 123, 7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8A90A0"/>
                </a:solidFill>
                <a:latin typeface="Consolas"/>
              </a:rPr>
              <a:t>n_train   </a:t>
            </a:r>
            <a:r>
              <a:rPr sz="1250" b="0" i="0">
                <a:solidFill>
                  <a:srgbClr val="1C2230"/>
                </a:solidFill>
                <a:latin typeface="Calibri"/>
              </a:rPr>
              <a:t>5,000 / 10,000 / 15,000 (GNN)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8A90A0"/>
                </a:solidFill>
                <a:latin typeface="Consolas"/>
              </a:rPr>
              <a:t>lr_model   </a:t>
            </a:r>
            <a:r>
              <a:rPr sz="1250" b="0" i="0">
                <a:solidFill>
                  <a:srgbClr val="1C2230"/>
                </a:solidFill>
                <a:latin typeface="Calibri"/>
              </a:rPr>
              <a:t>5e-5 default, 5e-4 sweep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8A90A0"/>
                </a:solidFill>
                <a:latin typeface="Consolas"/>
              </a:rPr>
              <a:t>epochs   </a:t>
            </a:r>
            <a:r>
              <a:rPr sz="1250" b="0" i="0">
                <a:solidFill>
                  <a:srgbClr val="1C2230"/>
                </a:solidFill>
                <a:latin typeface="Calibri"/>
              </a:rPr>
              <a:t>up to 300</a:t>
            </a:r>
          </a:p>
          <a:p>
            <a:pPr>
              <a:spcBef>
                <a:spcPts val="900"/>
              </a:spcBef>
            </a:pPr>
            <a:r>
              <a:rPr sz="1150" b="1" i="0">
                <a:solidFill>
                  <a:srgbClr val="8A90A0"/>
                </a:solidFill>
                <a:latin typeface="Consolas"/>
              </a:rPr>
              <a:t>metric   </a:t>
            </a:r>
            <a:r>
              <a:rPr sz="1250" b="0" i="0">
                <a:solidFill>
                  <a:srgbClr val="1C2230"/>
                </a:solidFill>
                <a:latin typeface="Calibri"/>
              </a:rPr>
              <a:t>Mean Rank + Δm%(μ) vs. STL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8A90A0"/>
                </a:solidFill>
                <a:latin typeface="Calibri"/>
              </a:rPr>
              <a:t>Δm% is signed against the STL baseline for μ — positive means the multi-task method beats training on that task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36576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06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C2230"/>
                </a:solidFill>
                <a:latin typeface="Georgia"/>
              </a:rPr>
              <a:t>Across three seeds, the simplest baseline wins on both backbones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Mean Rank (lower is better) and Δm%(μ) vs. STL (positive is better), n_train = 5,000, lr_model = 5e-4, averaged over seeds 42 / 123 / 7.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86000"/>
          <a:ext cx="10881360" cy="285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8A90A0"/>
                          </a:solidFill>
                          <a:latin typeface="Consolas"/>
                        </a:rPr>
                        <a:t>BACKBONE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8A90A0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8A90A0"/>
                          </a:solidFill>
                          <a:latin typeface="Consolas"/>
                        </a:rPr>
                        <a:t>MEAN RANK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8A90A0"/>
                          </a:solidFill>
                          <a:latin typeface="Consolas"/>
                        </a:rPr>
                        <a:t>ΔM%(Μ)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Uni-Mol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LS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1.33 ± 0.33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−5.07 ± 2.57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Uni-Mol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AIM Scalar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2.67 ± 0.88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−8.38 ± 2.77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Uni-Mol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PCGrad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3.00 ± 1.00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−8.91 ± 1.79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Uni-Mol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AIM Matrix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3.00 ± 0.88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−7.41 ± 0.53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C2230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C2230"/>
                          </a:solidFill>
                          <a:latin typeface="Calibri"/>
                        </a:rPr>
                        <a:t>LS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1.11 ± 0.19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1F7A72"/>
                          </a:solidFill>
                          <a:latin typeface="Consolas"/>
                        </a:rPr>
                        <a:t>+19.36 ± 10.77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PCGrad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2.78 ± 0.38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−6.21 ± 10.36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AIM Scalar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3.00 ± 0.58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−5.07 ± 9.30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1C2230"/>
                          </a:solidFill>
                          <a:latin typeface="Calibri"/>
                        </a:rPr>
                        <a:t>AIM Matrix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1C2230"/>
                          </a:solidFill>
                          <a:latin typeface="Consolas"/>
                        </a:rPr>
                        <a:t>3.11 ± 0.77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C1592F"/>
                          </a:solidFill>
                          <a:latin typeface="Consolas"/>
                        </a:rPr>
                        <a:t>−9.20 ± 11.95</a:t>
                      </a:r>
                    </a:p>
                  </a:txBody>
                  <a:tcPr marT="63500" marB="635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349240"/>
            <a:ext cx="54864" cy="1051560"/>
          </a:xfrm>
          <a:prstGeom prst="rect">
            <a:avLst/>
          </a:prstGeom>
          <a:solidFill>
            <a:srgbClr val="C15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4944" y="5349240"/>
            <a:ext cx="10826496" cy="1051560"/>
          </a:xfrm>
          <a:prstGeom prst="rect">
            <a:avLst/>
          </a:prstGeom>
          <a:solidFill>
            <a:srgbClr val="F7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458968"/>
            <a:ext cx="10378440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C1592F"/>
                </a:solidFill>
                <a:latin typeface="Calibri"/>
              </a:rPr>
              <a:t>Not the expected result — </a:t>
            </a:r>
            <a:r>
              <a:rPr sz="1350" b="0" i="0">
                <a:solidFill>
                  <a:srgbClr val="1C2230"/>
                </a:solidFill>
                <a:latin typeface="Calibri"/>
              </a:rPr>
              <a:t>in this replication, plain linear scalarization takes rank 1 on both backbones at this scale. AIM and PCGrad's gradient surgery underperform LS rather than beating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07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 i="0">
                <a:solidFill>
                  <a:srgbClr val="1C2230"/>
                </a:solidFill>
                <a:latin typeface="Georgia"/>
              </a:rPr>
              <a:t>The pattern holds architecture-to-architecture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Validation MAE per task, per method, seed 42, n_train = 5,000, lr_model = 5e-4 — Uni-Mol (top row) and GNN (bottom row) side by side.</a:t>
            </a:r>
          </a:p>
        </p:txBody>
      </p:sp>
      <p:pic>
        <p:nvPicPr>
          <p:cNvPr id="6" name="Picture 5" descr="mae_vs_epoch_seed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965960"/>
            <a:ext cx="6858218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8A90A0"/>
                </a:solidFill>
                <a:latin typeface="Calibri"/>
              </a:rPr>
              <a:t>src/comparison_all — Unimol/results/mae_vs_epoch_seed42.png   ·   On μ specifically, LS (blue) separates cleanly below AIM/PCGrad on both backbones — the gap is not a one-backbone fluke.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08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SCALE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 i="0">
                <a:solidFill>
                  <a:srgbClr val="1C2230"/>
                </a:solidFill>
                <a:latin typeface="Georgia"/>
              </a:rPr>
              <a:t>Scaling data doesn't reverse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GNN, 2-task pilot (μ, ε_LUMO) — the conflict-heavy subset — at n_train = 15,000, 3× the seed-sweep size.</a:t>
            </a:r>
          </a:p>
        </p:txBody>
      </p:sp>
      <p:pic>
        <p:nvPicPr>
          <p:cNvPr id="6" name="Picture 5" descr="comparison_all_n15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148840"/>
            <a:ext cx="4053775" cy="2468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89204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5093208"/>
            <a:ext cx="4718304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STL still leads outright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A head trained on μ alone reaches 0.19 MAE; every multi-task method (LS included) lands at 0.25–0.29. Multi-tasking still costs μ accuracy here, even before comparing methods against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89204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0488" y="5093208"/>
            <a:ext cx="4718304" cy="128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AIM-Matrix τ is small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Learned suppression thresholds of −0.05 to −0.11 — the policy is finding very little to intervene on, consistent with LS already doing fine without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09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SECONDARY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1C2230"/>
                </a:solidFill>
                <a:latin typeface="Georgia"/>
              </a:rPr>
              <a:t>The 3-task pilot shows training instability, independent of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 i="0">
                <a:solidFill>
                  <a:srgbClr val="4C5468"/>
                </a:solidFill>
                <a:latin typeface="Calibri"/>
              </a:rPr>
              <a:t>At n_train = 10,000 on the legacy 3-task subset (μ, U₀, U), every method — not just AIM — shows sharp, recurring validation-MAE spikes on U₀ and U across training.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51206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3218688"/>
            <a:ext cx="4718304" cy="197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What's consistent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Spikes appear in LS, PCGrad, AIM Scalar, and AIM Matrix alike, on the same near-duplicate task pair flagged earlier — pointing to the task subset, not the conflict-resolution method, as the likely 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017520"/>
            <a:ext cx="512064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90488" y="3218688"/>
            <a:ext cx="4718304" cy="197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Why it matters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4C5468"/>
                </a:solidFill>
                <a:latin typeface="Calibri"/>
              </a:rPr>
              <a:t>It reinforces the case for the μ/ε_LUMO 2-task pilot as the cleaner testbed going forward, ahead of scaling to the paper's full 11-task QM9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8A90A0"/>
                </a:solidFill>
                <a:latin typeface="Consolas"/>
              </a:rPr>
              <a:t>10  </a:t>
            </a:r>
            <a:r>
              <a:rPr sz="1200" b="1" i="0" spc="60">
                <a:solidFill>
                  <a:srgbClr val="1F7A72"/>
                </a:solidFill>
                <a:latin typeface="Consolas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700" b="1" i="0">
                <a:solidFill>
                  <a:srgbClr val="1C2230"/>
                </a:solidFill>
                <a:latin typeface="Georgia"/>
              </a:rPr>
              <a:t>Pipelines validated end-to-end. Benchmarking is still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C1592F"/>
                </a:solidFill>
                <a:latin typeface="Calibri"/>
              </a:rPr>
              <a:t>● </a:t>
            </a:r>
            <a:r>
              <a:rPr sz="1200" b="1" i="0" spc="40">
                <a:solidFill>
                  <a:srgbClr val="4C5468"/>
                </a:solidFill>
                <a:latin typeface="Consolas"/>
              </a:rPr>
              <a:t>FULL METHOD × SEED MATRIX 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Done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Both backbones: data → train → checkpoint → analysis, end to end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Shared, byte-identical AIM / baseline / metrics code across backbones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Seed × scale sweep at 5K, plus single-seed checks at 10K / 15K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Cross-backbone comparison tooling (table + plots + τ diagnostics)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103120"/>
            <a:ext cx="51206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>
                <a:solidFill>
                  <a:srgbClr val="1C2230"/>
                </a:solidFill>
                <a:latin typeface="Calibri"/>
              </a:rPr>
              <a:t>Open questions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Does AIM's edge over LS reappear at the paper's full 11-task scale?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Why does gradient surgery underperform LS here specifically — policy undertrained, or genuinely low conflict once μ/ε_LUMO is isolated?</a:t>
            </a:r>
          </a:p>
          <a:p>
            <a:pPr>
              <a:spcBef>
                <a:spcPts val="1000"/>
              </a:spcBef>
            </a:pPr>
            <a:r>
              <a:rPr sz="1250" b="1" i="0">
                <a:solidFill>
                  <a:srgbClr val="1F7A72"/>
                </a:solidFill>
                <a:latin typeface="Calibri"/>
              </a:rPr>
              <a:t>— </a:t>
            </a:r>
            <a:r>
              <a:rPr sz="1250" b="0" i="0">
                <a:solidFill>
                  <a:srgbClr val="4C5468"/>
                </a:solidFill>
                <a:latin typeface="Calibri"/>
              </a:rPr>
              <a:t>Full seed sweep still owed at 10K and 15K, both backbones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8A90A0"/>
                </a:solidFill>
                <a:latin typeface="Calibri"/>
              </a:rPr>
              <a:t>Repository: independent extension by Nisha Suthar of Minot &amp; Schneider, AIM: Adaptive Intervention for Deep Multi-task Learning of Molecular Properties, NeurIPS AI4Science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1491</Words>
  <Application>Microsoft Office PowerPoint</Application>
  <PresentationFormat>Widescreen</PresentationFormat>
  <Paragraphs>142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 Suthar</cp:lastModifiedBy>
  <cp:revision>2</cp:revision>
  <dcterms:created xsi:type="dcterms:W3CDTF">2013-01-27T09:14:16Z</dcterms:created>
  <dcterms:modified xsi:type="dcterms:W3CDTF">2026-08-23T15:16:47Z</dcterms:modified>
  <cp:category/>
</cp:coreProperties>
</file>